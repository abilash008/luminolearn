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200" y="457201"/>
            <a:ext cx="5943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NARAYANA ENGINEERING COLLEGE::NELLORE</a:t>
            </a:r>
          </a:p>
          <a:p>
            <a:pPr algn="ctr" defTabSz="914400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AUTONOMOUS</a:t>
            </a:r>
          </a:p>
          <a:p>
            <a:pPr algn="ctr" defTabSz="914400"/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defTabSz="914400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MCA </a:t>
            </a:r>
            <a:endParaRPr lang="en-US" dirty="0">
              <a:solidFill>
                <a:prstClr val="black"/>
              </a:solidFill>
              <a:latin typeface="Lucida Sans Unicode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3968E30-2A00-4438-81E2-49E423388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1254" y="533401"/>
            <a:ext cx="709094" cy="695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222FD-D0CE-47DF-9A62-37665DB815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799" y="533401"/>
            <a:ext cx="1010265" cy="695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6082" y="2057400"/>
            <a:ext cx="15343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Lucida Sans Unicode"/>
              </a:rPr>
              <a:t> </a:t>
            </a:r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Lucida Sans Unicode"/>
              </a:rPr>
              <a:t>A Project  </a:t>
            </a:r>
          </a:p>
          <a:p>
            <a:pPr algn="ctr" defTabSz="914400"/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Lucida Sans Unicode"/>
              </a:rPr>
              <a:t>Review</a:t>
            </a:r>
          </a:p>
          <a:p>
            <a:pPr algn="ctr" defTabSz="914400"/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Lucida Sans Unicode"/>
              </a:rPr>
              <a:t> 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6684" y="3124201"/>
            <a:ext cx="95962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3600" b="1">
                <a:solidFill>
                  <a:srgbClr val="F8F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Lumino</a:t>
            </a:r>
            <a:r>
              <a:rPr lang="en-US" sz="3600" b="1" i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US" sz="3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AI-Enhanced Online Learning Management System </a:t>
            </a:r>
            <a:endParaRPr lang="en-US" sz="3600" b="1" dirty="0">
              <a:solidFill>
                <a:srgbClr val="311EA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1254" y="4564975"/>
            <a:ext cx="29803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1800" i="0" dirty="0">
                <a:solidFill>
                  <a:srgbClr val="F8FAFF"/>
                </a:solidFill>
                <a:effectLst/>
                <a:latin typeface="Lucida Calligraphy" panose="03010101010101010101" pitchFamily="66" charset="0"/>
              </a:rPr>
              <a:t>Under the Guidance of</a:t>
            </a:r>
          </a:p>
          <a:p>
            <a:pPr algn="ctr" defTabSz="914400"/>
            <a:endParaRPr lang="en-IN" sz="1800" i="0" dirty="0">
              <a:solidFill>
                <a:srgbClr val="F8FAFF"/>
              </a:solidFill>
              <a:effectLst/>
              <a:latin typeface="Inter"/>
            </a:endParaRPr>
          </a:p>
          <a:p>
            <a:pPr algn="ctr" defTabSz="914400"/>
            <a:r>
              <a:rPr lang="en-IN" b="1" i="1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</a:t>
            </a:r>
            <a:r>
              <a:rPr lang="en-IN" b="1" i="1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r. B. </a:t>
            </a:r>
            <a:r>
              <a:rPr lang="en-US" b="1" i="1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SUNIL KUMAR</a:t>
            </a:r>
            <a:endParaRPr lang="en-US" b="1" dirty="0">
              <a:solidFill>
                <a:srgbClr val="0070C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defTabSz="914400"/>
            <a:r>
              <a:rPr lang="en-IN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Professor</a:t>
            </a:r>
            <a:endParaRPr lang="en-US" dirty="0">
              <a:solidFill>
                <a:srgbClr val="DA1F28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defTabSz="914400"/>
            <a:r>
              <a:rPr lang="en-IN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Computer Science</a:t>
            </a:r>
            <a:endParaRPr lang="en-US" dirty="0">
              <a:solidFill>
                <a:srgbClr val="DA1F28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1" y="4564975"/>
            <a:ext cx="228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IN" dirty="0">
                <a:solidFill>
                  <a:srgbClr val="F8FAFF"/>
                </a:solidFill>
                <a:latin typeface="Lucida Calligraphy" panose="03010101010101010101" pitchFamily="66" charset="0"/>
              </a:rPr>
              <a:t>Presented By</a:t>
            </a:r>
          </a:p>
          <a:p>
            <a:pPr algn="ctr" defTabSz="914400"/>
            <a:r>
              <a:rPr lang="en-US" dirty="0">
                <a:solidFill>
                  <a:srgbClr val="00ADEA"/>
                </a:solidFill>
                <a:latin typeface="Lucida Calligraphy" pitchFamily="66" charset="0"/>
              </a:rPr>
              <a:t> </a:t>
            </a:r>
          </a:p>
          <a:p>
            <a:pPr algn="ctr" defTabSz="914400"/>
            <a:r>
              <a:rPr lang="en-IN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B.N.S ABHILASH</a:t>
            </a:r>
          </a:p>
          <a:p>
            <a:pPr algn="ctr" defTabSz="914400"/>
            <a:r>
              <a:rPr lang="en-IN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23711F00E0</a:t>
            </a:r>
            <a:endParaRPr lang="en-US" dirty="0">
              <a:solidFill>
                <a:srgbClr val="DA1F28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defTabSz="914400"/>
            <a:r>
              <a:rPr lang="en-IN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II MCA – II SEM</a:t>
            </a:r>
            <a:endParaRPr lang="en-US" dirty="0">
              <a:solidFill>
                <a:srgbClr val="DA1F28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defTabSz="914400"/>
            <a:endParaRPr lang="en-US" dirty="0">
              <a:solidFill>
                <a:srgbClr val="DA1F28"/>
              </a:solidFill>
              <a:latin typeface="Lucida Sans Unicode"/>
            </a:endParaRPr>
          </a:p>
          <a:p>
            <a:pPr defTabSz="914400"/>
            <a:endParaRPr lang="en-US" dirty="0">
              <a:solidFill>
                <a:prstClr val="black"/>
              </a:solidFill>
              <a:latin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6FB8-1516-EC73-7E93-5BC1BCC6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30827"/>
            <a:ext cx="10131425" cy="796412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37C97-4ED2-DB19-E732-A4AE4F434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63098"/>
            <a:ext cx="10965425" cy="3864076"/>
          </a:xfrm>
        </p:spPr>
        <p:txBody>
          <a:bodyPr>
            <a:normAutofit/>
          </a:bodyPr>
          <a:lstStyle/>
          <a:p>
            <a:pPr marL="153035" marR="469265" indent="0" algn="just">
              <a:spcBef>
                <a:spcPts val="315"/>
              </a:spcBef>
              <a:buNone/>
            </a:pPr>
            <a:r>
              <a:rPr lang="en-US" sz="1800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The </a:t>
            </a:r>
            <a:r>
              <a:rPr lang="en-US" sz="1800" b="1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LuminoLearn</a:t>
            </a:r>
            <a:r>
              <a:rPr lang="en-US" sz="1800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 (Illuminating the path to learning and success) platform is a comprehensive and interactive Online Learning Management System designed to revolutionize online education. By integrating </a:t>
            </a:r>
            <a:r>
              <a:rPr lang="en-US" sz="1800" b="1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AI-powered</a:t>
            </a:r>
            <a:r>
              <a:rPr lang="en-US" sz="1800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 personalized learning paths, real-ti</a:t>
            </a:r>
            <a:r>
              <a:rPr lang="en-US" dirty="0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me coding practices</a:t>
            </a:r>
            <a:r>
              <a:rPr lang="en-US" sz="1800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 and gamified engagement, it caters to diverse learner needs while fostering motivation and retention.</a:t>
            </a:r>
            <a:r>
              <a:rPr lang="en-IN" dirty="0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 </a:t>
            </a:r>
            <a:r>
              <a:rPr lang="en-US" sz="1800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The system offers a robust multi-language code editor for programming enthusiasts, enabling realtime code execution with a language selection feature. Key features include adaptive course recommendations, progress tracking, quizzes, assignments, and engaging gamification elements such as badges, leaderboards, and rewards. A user-friendly Educator dashboard supports efficient course management.</a:t>
            </a:r>
            <a:r>
              <a:rPr lang="en-US" sz="1800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This project aims to bridge the gap between traditional e-learning platforms and personalized learning needs, empowering students, educators, and institutions alike</a:t>
            </a:r>
            <a:r>
              <a:rPr lang="en-US" b="1" dirty="0">
                <a:effectLst/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.</a:t>
            </a:r>
            <a:endParaRPr lang="en-IN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39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638F-4952-8FA5-E108-CD25DA04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94851"/>
            <a:ext cx="10131425" cy="786581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33C4-CB28-2DD1-86FC-28ACE0EAA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14168"/>
            <a:ext cx="10131425" cy="48276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br>
              <a:rPr lang="en-US" b="0" i="0" dirty="0">
                <a:solidFill>
                  <a:srgbClr val="F8FAFF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Traditional Learning Management Systems (LMS) like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Moodle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,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Blackboard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, or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Google Classroom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 are widely used in educational institutions. These systems provide basic functionalities for course management, content delivery, and assessments.</a:t>
            </a:r>
          </a:p>
          <a:p>
            <a:pPr marL="0" indent="0" algn="just">
              <a:buNone/>
            </a:pPr>
            <a:endParaRPr lang="en-US" sz="1800" dirty="0">
              <a:solidFill>
                <a:srgbClr val="F8FA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Course Management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Educators can upload course materials, assignments, and quizzes.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Content Delivery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Students can access lectures, notes, and resources online.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Assessments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Basic tools for creating and grading quizzes and assignments.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Communication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: Forums and messaging systems for student-teacher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07672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ACBD-9344-262E-9FF0-1D356305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75303"/>
            <a:ext cx="10131425" cy="845574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055-69D0-CD5A-8385-62BCB684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3780"/>
            <a:ext cx="10131425" cy="5338917"/>
          </a:xfrm>
        </p:spPr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Traditional LMS platforms use a </a:t>
            </a: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one-size-fits-all approach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They do not adapt to individual student learning styles or performance.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Engagement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No gamification features (e.g., leaderboards, badges, XP).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Students often lose motivation due to monotonous learning experiences.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Coding Practice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Students cannot write, compile, or debug code directly within the platform.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No support for multiple programming languages.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AI Support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No chatbot or AI mentor to assist students with queries.</a:t>
            </a:r>
          </a:p>
          <a:p>
            <a:pPr lvl="1" algn="just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Educators must manually address student questions, which is time-consuming.</a:t>
            </a:r>
          </a:p>
        </p:txBody>
      </p:sp>
    </p:spTree>
    <p:extLst>
      <p:ext uri="{BB962C8B-B14F-4D97-AF65-F5344CB8AC3E}">
        <p14:creationId xmlns:p14="http://schemas.microsoft.com/office/powerpoint/2010/main" val="350192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2B11-1B38-9365-1795-F830996D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76748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95BE-A7EC-C7D6-ED90-A86C4DD64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711" y="1504336"/>
            <a:ext cx="8880986" cy="4601496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LuminoLearn (illuminating path to learning and success)</a:t>
            </a:r>
          </a:p>
          <a:p>
            <a:pPr marL="0" indent="0" algn="just">
              <a:spcBef>
                <a:spcPts val="300"/>
              </a:spcBef>
              <a:buNone/>
            </a:pPr>
            <a:br>
              <a:rPr lang="en-US" b="0" i="0" dirty="0">
                <a:solidFill>
                  <a:srgbClr val="F8FAFF"/>
                </a:solidFill>
                <a:effectLst/>
                <a:latin typeface="Inter"/>
              </a:rPr>
            </a:b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LuminoLearn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 is an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AI-enhanced online learning platform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 designed to address the limitations of traditional LMS platforms. It integrates 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AI-driven recommendations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,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gamification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,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real-time coding practice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, and </a:t>
            </a:r>
            <a:r>
              <a:rPr lang="en-US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advanced analytics</a:t>
            </a: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 to create a personalized and engaging learning experience for students.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54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7378-BAF6-31F8-D2A8-B0CDD08E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2568"/>
            <a:ext cx="10131425" cy="786581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Advantages of Proposed System</a:t>
            </a:r>
            <a:endParaRPr lang="en-IN" sz="32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58F79-BF52-937C-645C-EA43A1FAF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27471"/>
            <a:ext cx="10131425" cy="5687961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Recommendations</a:t>
            </a:r>
            <a:r>
              <a:rPr lang="en-IN" sz="2400" b="0" i="1" dirty="0">
                <a:solidFill>
                  <a:srgbClr val="00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Personalized learning to address skill </a:t>
            </a:r>
            <a:r>
              <a:rPr lang="en-US" sz="1800" dirty="0">
                <a:solidFill>
                  <a:srgbClr val="F8FA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gaps. paths based on student performance and interests, and Dynamic course suggestions.</a:t>
            </a:r>
            <a:endParaRPr lang="en-US" sz="1800" b="0" i="0" dirty="0">
              <a:solidFill>
                <a:srgbClr val="F8FAFF"/>
              </a:solidFill>
              <a:effectLst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</a:t>
            </a:r>
            <a:r>
              <a:rPr lang="en-IN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🏆 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Leaderboards, badges, and XP (experience points) for completing tasks.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Weekly challenges and skill duels to keep students motivated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Coding Practice </a:t>
            </a:r>
            <a:r>
              <a:rPr lang="en-IN" sz="2400" b="0" i="1" dirty="0">
                <a:solidFill>
                  <a:srgbClr val="00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Integrated </a:t>
            </a:r>
            <a:r>
              <a:rPr lang="en-US" sz="18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Monaco Editor</a:t>
            </a: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 for writing, compiling, and debugging code in multiple programming languages.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Instant feedback on code submissions.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Chatbot </a:t>
            </a:r>
            <a:r>
              <a:rPr lang="en-IN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24/7 support for student queries using NLP (Natural Language Processing).</a:t>
            </a:r>
          </a:p>
          <a:p>
            <a:pPr lvl="1">
              <a:spcBef>
                <a:spcPts val="300"/>
              </a:spcBef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Provides instant answers to questions about course content or technical issues.</a:t>
            </a:r>
          </a:p>
        </p:txBody>
      </p:sp>
    </p:spTree>
    <p:extLst>
      <p:ext uri="{BB962C8B-B14F-4D97-AF65-F5344CB8AC3E}">
        <p14:creationId xmlns:p14="http://schemas.microsoft.com/office/powerpoint/2010/main" val="68223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2B65-868D-B0EF-E0D2-CA752110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38667"/>
            <a:ext cx="10131425" cy="728134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F95455-B57F-736A-05BA-8F6159495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045408"/>
              </p:ext>
            </p:extLst>
          </p:nvPr>
        </p:nvGraphicFramePr>
        <p:xfrm>
          <a:off x="451054" y="1818969"/>
          <a:ext cx="10955595" cy="412954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655296">
                  <a:extLst>
                    <a:ext uri="{9D8B030D-6E8A-4147-A177-3AD203B41FA5}">
                      <a16:colId xmlns:a16="http://schemas.microsoft.com/office/drawing/2014/main" val="3503695273"/>
                    </a:ext>
                  </a:extLst>
                </a:gridCol>
                <a:gridCol w="3655296">
                  <a:extLst>
                    <a:ext uri="{9D8B030D-6E8A-4147-A177-3AD203B41FA5}">
                      <a16:colId xmlns:a16="http://schemas.microsoft.com/office/drawing/2014/main" val="3407837616"/>
                    </a:ext>
                  </a:extLst>
                </a:gridCol>
                <a:gridCol w="3645003">
                  <a:extLst>
                    <a:ext uri="{9D8B030D-6E8A-4147-A177-3AD203B41FA5}">
                      <a16:colId xmlns:a16="http://schemas.microsoft.com/office/drawing/2014/main" val="3164481294"/>
                    </a:ext>
                  </a:extLst>
                </a:gridCol>
              </a:tblGrid>
              <a:tr h="825909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LuminoLearn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765168"/>
                  </a:ext>
                </a:extLst>
              </a:tr>
              <a:tr h="825909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❌ Static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✅ AI-driven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309999"/>
                  </a:ext>
                </a:extLst>
              </a:tr>
              <a:tr h="825909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Real-Time 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❌ No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✅ Monaco Editor + JDoodle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150367"/>
                  </a:ext>
                </a:extLst>
              </a:tr>
              <a:tr h="825909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Student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❌ Basic forums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✅ Leaderboards, Badges, XP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015108"/>
                  </a:ext>
                </a:extLst>
              </a:tr>
              <a:tr h="825909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24/7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❌ Manual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Lucida Sans Unicode" panose="020B0602030504020204" pitchFamily="34" charset="0"/>
                          <a:cs typeface="Lucida Sans Unicode" panose="020B0602030504020204" pitchFamily="34" charset="0"/>
                        </a:rPr>
                        <a:t>✅ AI Chatbot (NLP-powered)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03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773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AE90-91E0-AD61-1739-B27BDC2E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1226"/>
            <a:ext cx="10131425" cy="845574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34CF3-21DD-74C8-DF7D-88F9C96CB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292" y="1266996"/>
            <a:ext cx="9480754" cy="5084643"/>
          </a:xfrm>
        </p:spPr>
        <p:txBody>
          <a:bodyPr/>
          <a:lstStyle/>
          <a:p>
            <a:pPr marL="0" indent="0" algn="just">
              <a:spcAft>
                <a:spcPts val="300"/>
              </a:spcAft>
              <a:buNone/>
            </a:pPr>
            <a:r>
              <a:rPr lang="en-US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To develop an </a:t>
            </a:r>
            <a:r>
              <a:rPr lang="en-US" sz="2000" b="1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AI-enhanced online learning platform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 that:</a:t>
            </a:r>
          </a:p>
          <a:p>
            <a:pPr marL="457200" lvl="1" indent="0" algn="just">
              <a:spcBef>
                <a:spcPts val="300"/>
              </a:spcBef>
              <a:buNone/>
            </a:pPr>
            <a:endParaRPr lang="en-US" sz="2000" dirty="0">
              <a:solidFill>
                <a:srgbClr val="F8FA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Provides personalized learning experiences.</a:t>
            </a:r>
          </a:p>
          <a:p>
            <a:pPr lvl="1" algn="just">
              <a:spcBef>
                <a:spcPts val="300"/>
              </a:spcBef>
            </a:pP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Enhances student engagement through gamification.</a:t>
            </a:r>
          </a:p>
          <a:p>
            <a:pPr lvl="1" algn="just">
              <a:spcBef>
                <a:spcPts val="300"/>
              </a:spcBef>
            </a:pP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Offers real-time coding practice and feedback.</a:t>
            </a:r>
          </a:p>
          <a:p>
            <a:pPr lvl="1" algn="just">
              <a:spcBef>
                <a:spcPts val="300"/>
              </a:spcBef>
            </a:pP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Supports educators with advanced analytics</a:t>
            </a:r>
            <a:r>
              <a:rPr lang="en-IN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📊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 and course management</a:t>
            </a:r>
            <a:r>
              <a:rPr lang="en-IN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📚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38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BEC5-70DC-E61D-009F-E29B4A86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7485"/>
            <a:ext cx="10131425" cy="855406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BD00-D782-AC85-699E-D209A967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002891"/>
            <a:ext cx="10131425" cy="5427406"/>
          </a:xfrm>
        </p:spPr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Students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Access to personalized courses and assessments.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Real-time coding practice and feedback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Gamified learning experience.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Educators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Easy course creation and management.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Detailed student performance analytics.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AI-assisted content recommendations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Integration with job portals for career guidance.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Mobile app for on-the-go learning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1127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2A6B-2BB6-5054-1362-3A2DB405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6646"/>
            <a:ext cx="10131425" cy="870154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F3771-2D2D-EA2C-3EDC-189C8AC0B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0"/>
            <a:ext cx="10041193" cy="5324167"/>
          </a:xfrm>
        </p:spPr>
        <p:txBody>
          <a:bodyPr numCol="2"/>
          <a:lstStyle/>
          <a:p>
            <a:pPr marL="0" indent="0" algn="ctr">
              <a:buNone/>
            </a:pPr>
            <a:endParaRPr lang="en-IN" sz="24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indent="0" algn="ctr">
              <a:buNone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🖥 Software Requirements</a:t>
            </a:r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endParaRPr lang="en-IN" sz="20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Frontend: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HTML, CSS, JavaScript, Monaco Editor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Backend: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Python, Django, Django REST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Database: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 PostgreSQL (for development and production)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AI/ML Tools: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Scikit-learn, TensorFlow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Code Execution API: JDoodle External API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2000" b="1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indent="0" algn="ctr">
              <a:buNone/>
            </a:pPr>
            <a:r>
              <a:rPr lang="en-IN" sz="20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🛠 </a:t>
            </a: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Hardware Requirements</a:t>
            </a:r>
          </a:p>
          <a:p>
            <a:pPr marL="0" indent="0" algn="ctr">
              <a:buNone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Minimum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: 4GB RAM, Intel i3 / Ryzen 3 Processor</a:t>
            </a:r>
          </a:p>
          <a:p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Recommended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: 8GB+ RAM, Intel i5+ / Ryzen 5+ Processor</a:t>
            </a:r>
          </a:p>
          <a:p>
            <a:r>
              <a:rPr lang="en-IN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Storage</a:t>
            </a:r>
            <a:r>
              <a:rPr lang="en-IN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: At least 10GB free space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54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2C35-F6B6-0337-2E56-15D6622F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A22A-2FCA-A8B6-E8E3-0A9CEE0A5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Algerian" panose="04020705040A02060702" pitchFamily="82" charset="0"/>
              </a:rPr>
              <a:t>Queries if any?</a:t>
            </a:r>
          </a:p>
          <a:p>
            <a:pPr marL="0" indent="0" algn="ctr">
              <a:buNone/>
            </a:pP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24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9168-6781-7D2E-3840-66DA05F2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8D3D-8A7F-9F1D-C5E4-0ADFB46E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  <a:p>
            <a:pPr marL="0" indent="0" algn="ctr">
              <a:buNone/>
            </a:pPr>
            <a:endParaRPr lang="en-IN" sz="9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018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</TotalTime>
  <Words>789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Inter</vt:lpstr>
      <vt:lpstr>Lucida Calligraphy</vt:lpstr>
      <vt:lpstr>Lucida Sans Unicode</vt:lpstr>
      <vt:lpstr>Times New Roman</vt:lpstr>
      <vt:lpstr>Wingdings</vt:lpstr>
      <vt:lpstr>Celestial</vt:lpstr>
      <vt:lpstr>PowerPoint Presentation</vt:lpstr>
      <vt:lpstr>Project Abstract</vt:lpstr>
      <vt:lpstr>Existing System</vt:lpstr>
      <vt:lpstr>Drawbacks of Existing System</vt:lpstr>
      <vt:lpstr>Proposed System</vt:lpstr>
      <vt:lpstr>Advantages of Proposed System</vt:lpstr>
      <vt:lpstr>Comparison</vt:lpstr>
      <vt:lpstr>Aim of the Project</vt:lpstr>
      <vt:lpstr>Scope of the Project</vt:lpstr>
      <vt:lpstr>System Requirements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Abhilash Naidu</dc:creator>
  <cp:lastModifiedBy>Abhilash Naidu</cp:lastModifiedBy>
  <cp:revision>9</cp:revision>
  <dcterms:created xsi:type="dcterms:W3CDTF">2025-02-16T06:27:52Z</dcterms:created>
  <dcterms:modified xsi:type="dcterms:W3CDTF">2025-02-21T10:16:58Z</dcterms:modified>
</cp:coreProperties>
</file>